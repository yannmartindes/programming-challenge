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28"/>
  </p:notesMasterIdLst>
  <p:handoutMasterIdLst>
    <p:handoutMasterId r:id="rId29"/>
  </p:handoutMasterIdLst>
  <p:sldIdLst>
    <p:sldId id="262" r:id="rId2"/>
    <p:sldId id="263" r:id="rId3"/>
    <p:sldId id="264" r:id="rId4"/>
    <p:sldId id="265" r:id="rId5"/>
    <p:sldId id="295" r:id="rId6"/>
    <p:sldId id="294" r:id="rId7"/>
    <p:sldId id="267" r:id="rId8"/>
    <p:sldId id="268" r:id="rId9"/>
    <p:sldId id="269" r:id="rId10"/>
    <p:sldId id="270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91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88A0"/>
    <a:srgbClr val="FDFA8D"/>
    <a:srgbClr val="F8D22F"/>
    <a:srgbClr val="344529"/>
    <a:srgbClr val="2B3922"/>
    <a:srgbClr val="2E3722"/>
    <a:srgbClr val="FCF7F1"/>
    <a:srgbClr val="B8D233"/>
    <a:srgbClr val="5CC6D6"/>
    <a:srgbClr val="F03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541C455-0541-42CB-85F2-EF2EB726E407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39F4AB6-716B-4E95-AAD2-DB349D9AC9BA}" type="datetime1">
              <a:rPr lang="fr-FR" smtClean="0"/>
              <a:t>08/01/2026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3B6331D-8BD5-4AF5-97EE-8FB3C79FE924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87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36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20D9D58-8984-498B-A4DA-61EAC8A72DD8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03526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E52E25-1182-4E86-836C-7D703787597C}" type="datetime1">
              <a:rPr lang="fr-FR" smtClean="0"/>
              <a:t>08/01/2026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28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07B49E2-AD49-4B10-A213-CF194D4A25A3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4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20D9D58-8984-498B-A4DA-61EAC8A72DD8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148299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D66AC7-6890-4F0E-B000-A39D822B7C00}" type="datetime1">
              <a:rPr lang="fr-FR" smtClean="0"/>
              <a:t>08/01/2026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64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7B0F5FB-B743-44F1-84BA-99C248DB6023}" type="datetime1">
              <a:rPr lang="fr-FR" smtClean="0"/>
              <a:t>08/01/2026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C80E5F3D-7A62-48B1-A43E-C6091B37429D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7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09D1B91-EF9C-42FB-BBE2-597FDE1B14D7}" type="datetime1">
              <a:rPr lang="fr-FR" smtClean="0"/>
              <a:t>08/01/2026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62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F733226-97BF-4FE9-8F44-80542C0EB53C}" type="datetime1">
              <a:rPr lang="fr-FR" smtClean="0"/>
              <a:t>08/01/2026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98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20D9D58-8984-498B-A4DA-61EAC8A72DD8}" type="datetime1">
              <a:rPr lang="fr-FR" smtClean="0"/>
              <a:t>08/01/2026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11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43889-B2B0-479A-AB8B-819BC8A92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8779" y="2067633"/>
            <a:ext cx="8637073" cy="2541431"/>
          </a:xfrm>
        </p:spPr>
        <p:txBody>
          <a:bodyPr/>
          <a:lstStyle/>
          <a:p>
            <a:r>
              <a:rPr lang="fr-FR" dirty="0" err="1"/>
              <a:t>Damaged</a:t>
            </a:r>
            <a:r>
              <a:rPr lang="fr-FR" dirty="0"/>
              <a:t> Ticket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E74432-AD5B-40E1-9907-789311F1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pic>
        <p:nvPicPr>
          <p:cNvPr id="6" name="Graphique 5" descr="Pellicule">
            <a:extLst>
              <a:ext uri="{FF2B5EF4-FFF2-40B4-BE49-F238E27FC236}">
                <a16:creationId xmlns:a16="http://schemas.microsoft.com/office/drawing/2014/main" id="{ADA49AB8-B741-4EEA-BFB8-2C02B6EEE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86373">
            <a:off x="5153504" y="515642"/>
            <a:ext cx="2751630" cy="27516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8A146FB-9CEC-4658-9510-E129A7C2CE45}"/>
              </a:ext>
            </a:extLst>
          </p:cNvPr>
          <p:cNvSpPr txBox="1"/>
          <p:nvPr/>
        </p:nvSpPr>
        <p:spPr>
          <a:xfrm>
            <a:off x="4207053" y="5513906"/>
            <a:ext cx="3777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Yann Martin D’</a:t>
            </a:r>
            <a:r>
              <a:rPr lang="fr-FR" sz="2800" dirty="0" err="1"/>
              <a:t>Escrienne</a:t>
            </a:r>
            <a:endParaRPr lang="fr-FR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885B44-52AC-4D3D-BFBF-660882EA2C81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1/26</a:t>
            </a:r>
          </a:p>
        </p:txBody>
      </p:sp>
    </p:spTree>
    <p:extLst>
      <p:ext uri="{BB962C8B-B14F-4D97-AF65-F5344CB8AC3E}">
        <p14:creationId xmlns:p14="http://schemas.microsoft.com/office/powerpoint/2010/main" val="422250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B29C9-10B3-464E-A501-65F5CD53F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D1B82E-9CFA-404F-92C1-812E549A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D8C0B9-0CBC-485B-BB3D-7B93053B2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8686"/>
            <a:ext cx="12192000" cy="49864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76EE033-7382-4763-87A6-48175523481E}"/>
              </a:ext>
            </a:extLst>
          </p:cNvPr>
          <p:cNvSpPr txBox="1"/>
          <p:nvPr/>
        </p:nvSpPr>
        <p:spPr>
          <a:xfrm>
            <a:off x="0" y="223360"/>
            <a:ext cx="10377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/>
              <a:t>OVERALL FUNCTIONING OF THE BASE ALGORITHM</a:t>
            </a:r>
            <a:endParaRPr lang="fr-FR" sz="2800" b="1" i="1" u="sng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D947AF-8722-44A9-91F1-8E191AD06663}"/>
              </a:ext>
            </a:extLst>
          </p:cNvPr>
          <p:cNvSpPr txBox="1"/>
          <p:nvPr/>
        </p:nvSpPr>
        <p:spPr>
          <a:xfrm>
            <a:off x="2087690" y="5296094"/>
            <a:ext cx="10104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- The algorithm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considers all possibilities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and counts the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total number of solutions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found. </a:t>
            </a:r>
            <a:endParaRPr lang="fr-FR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If more than one solution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is found, it cannot be reconstructed in a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unique way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: we return “</a:t>
            </a:r>
            <a:r>
              <a:rPr lang="en-US" sz="1400" b="1" dirty="0">
                <a:solidFill>
                  <a:srgbClr val="FF0000"/>
                </a:solidFill>
              </a:rPr>
              <a:t>NO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.”</a:t>
            </a:r>
            <a:endParaRPr lang="fr-FR" sz="1400" dirty="0">
              <a:solidFill>
                <a:srgbClr val="C0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6FFBD8-BD20-4132-8F00-5277C955CA1A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2/26</a:t>
            </a:r>
          </a:p>
        </p:txBody>
      </p:sp>
    </p:spTree>
    <p:extLst>
      <p:ext uri="{BB962C8B-B14F-4D97-AF65-F5344CB8AC3E}">
        <p14:creationId xmlns:p14="http://schemas.microsoft.com/office/powerpoint/2010/main" val="2250270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ague 11">
            <a:extLst>
              <a:ext uri="{FF2B5EF4-FFF2-40B4-BE49-F238E27FC236}">
                <a16:creationId xmlns:a16="http://schemas.microsoft.com/office/drawing/2014/main" id="{F481D57E-7F7F-4E22-AD0F-2820A8E46C71}"/>
              </a:ext>
            </a:extLst>
          </p:cNvPr>
          <p:cNvSpPr/>
          <p:nvPr/>
        </p:nvSpPr>
        <p:spPr>
          <a:xfrm rot="5400000">
            <a:off x="6980527" y="3263013"/>
            <a:ext cx="2319388" cy="1466381"/>
          </a:xfrm>
          <a:prstGeom prst="wave">
            <a:avLst>
              <a:gd name="adj1" fmla="val 5704"/>
              <a:gd name="adj2" fmla="val 0"/>
            </a:avLst>
          </a:prstGeom>
          <a:solidFill>
            <a:srgbClr val="FDFA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Vague 10">
            <a:extLst>
              <a:ext uri="{FF2B5EF4-FFF2-40B4-BE49-F238E27FC236}">
                <a16:creationId xmlns:a16="http://schemas.microsoft.com/office/drawing/2014/main" id="{57A4752D-4FBB-422C-B37A-072502232B1A}"/>
              </a:ext>
            </a:extLst>
          </p:cNvPr>
          <p:cNvSpPr/>
          <p:nvPr/>
        </p:nvSpPr>
        <p:spPr>
          <a:xfrm rot="5400000">
            <a:off x="1708898" y="3248455"/>
            <a:ext cx="2276672" cy="1452780"/>
          </a:xfrm>
          <a:prstGeom prst="wave">
            <a:avLst>
              <a:gd name="adj1" fmla="val 5704"/>
              <a:gd name="adj2" fmla="val 0"/>
            </a:avLst>
          </a:prstGeom>
          <a:solidFill>
            <a:srgbClr val="FDFA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B3DF5-8EC6-4E87-A4AC-14AD6140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484970"/>
            <a:ext cx="9603275" cy="1049235"/>
          </a:xfrm>
        </p:spPr>
        <p:txBody>
          <a:bodyPr/>
          <a:lstStyle/>
          <a:p>
            <a:pPr algn="ctr"/>
            <a:r>
              <a:rPr lang="fr-FR" sz="5400" dirty="0"/>
              <a:t>EXAMPLE #1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E71A87-5731-447A-9B56-7F96F235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201148" cy="4061218"/>
          </a:xfrm>
        </p:spPr>
        <p:txBody>
          <a:bodyPr>
            <a:noAutofit/>
          </a:bodyPr>
          <a:lstStyle/>
          <a:p>
            <a:r>
              <a:rPr lang="en-US" sz="1800" dirty="0"/>
              <a:t>Execution of the algorithm with the input: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fr-FR" sz="1800" dirty="0"/>
              <a:t>	5 6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- * * * - *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* * - * * 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- * * * *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* * * * *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* * * * *</a:t>
            </a:r>
          </a:p>
          <a:p>
            <a:pPr marL="0" indent="0">
              <a:buNone/>
            </a:pPr>
            <a:r>
              <a:rPr lang="fr-FR" sz="1800" dirty="0"/>
              <a:t>	4 2 2 3 6</a:t>
            </a:r>
          </a:p>
          <a:p>
            <a:pPr marL="0" indent="0">
              <a:buNone/>
            </a:pPr>
            <a:r>
              <a:rPr lang="fr-FR" sz="1800" dirty="0"/>
              <a:t>	3 2 1 3 3 5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8C0566-96DE-4CD6-9087-6A2BF824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D19E8C8-F7D0-4E71-BE88-72FED804BFAE}"/>
              </a:ext>
            </a:extLst>
          </p:cNvPr>
          <p:cNvSpPr txBox="1">
            <a:spLocks/>
          </p:cNvSpPr>
          <p:nvPr/>
        </p:nvSpPr>
        <p:spPr>
          <a:xfrm>
            <a:off x="6751557" y="2015732"/>
            <a:ext cx="5105876" cy="37879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err="1"/>
              <a:t>Which</a:t>
            </a:r>
            <a:r>
              <a:rPr lang="fr-FR" sz="1800" dirty="0"/>
              <a:t> </a:t>
            </a:r>
            <a:r>
              <a:rPr lang="fr-FR" sz="1800" dirty="0" err="1"/>
              <a:t>should</a:t>
            </a:r>
            <a:r>
              <a:rPr lang="fr-FR" sz="1800" dirty="0"/>
              <a:t> </a:t>
            </a:r>
            <a:r>
              <a:rPr lang="fr-FR" sz="1800" dirty="0" err="1"/>
              <a:t>result</a:t>
            </a:r>
            <a:r>
              <a:rPr lang="fr-FR" sz="1800" dirty="0"/>
              <a:t> in: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- * * - - -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* * - * -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* - * * * -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- * * * - -</a:t>
            </a:r>
          </a:p>
          <a:p>
            <a:pPr marL="0" indent="0">
              <a:buNone/>
            </a:pPr>
            <a:r>
              <a:rPr lang="fr-FR" sz="1800" b="1" dirty="0">
                <a:latin typeface="Frank Ruhl Hofshi" panose="00000500000000000000" pitchFamily="50" charset="-79"/>
                <a:cs typeface="Frank Ruhl Hofshi" panose="00000500000000000000" pitchFamily="50" charset="-79"/>
              </a:rPr>
              <a:t>	- - - - - -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59BC819-B7F6-46D2-949F-A695B321A027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3/26</a:t>
            </a:r>
          </a:p>
        </p:txBody>
      </p:sp>
    </p:spTree>
    <p:extLst>
      <p:ext uri="{BB962C8B-B14F-4D97-AF65-F5344CB8AC3E}">
        <p14:creationId xmlns:p14="http://schemas.microsoft.com/office/powerpoint/2010/main" val="399939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79E1FA4-890B-4B99-B1AD-AA4B78666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E58B7-C53C-4E7B-A78E-2C44E3E0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5BCEF6-D055-4CB5-A655-51F32308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424" y="4460798"/>
            <a:ext cx="8637073" cy="558063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TREATMENT OF TRIVIAL CASES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4BA1F0E-270C-4AB7-809E-DBD5AB896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64906" y="323838"/>
            <a:ext cx="8661501" cy="3652791"/>
            <a:chOff x="7773058" y="600024"/>
            <a:chExt cx="3630912" cy="522248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53DA19-3231-4BF9-80B9-6200D2367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3058" y="600024"/>
              <a:ext cx="3630912" cy="5222486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1F8506-51A0-4CD0-889F-826E9E678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04482" y="1062693"/>
              <a:ext cx="3367301" cy="429234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9BCA0E2-0826-4688-8066-477F2437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44322" y="822145"/>
            <a:ext cx="7702878" cy="2662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691DBD-C45C-4D4E-B436-B35389F6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19" y="1015736"/>
            <a:ext cx="3784730" cy="22347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2C2FA91-C268-446B-AA77-D20A3BCF6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51" y="1030062"/>
            <a:ext cx="3752849" cy="2220466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3F4B1E-3EAB-415B-825A-464AAF1D7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CA5DC8-9992-4FBC-9DF2-E6515A3D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5692" y="5495006"/>
            <a:ext cx="3500715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02FE938-1586-4780-B61A-DD3B60BAB93C}" type="datetime1">
              <a:rPr lang="fr-FR" smtClean="0"/>
              <a:pPr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B708961-E777-4956-A983-78A4F532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9D3B50E-372C-47D8-BC90-104318AD8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790EC4D4-09BF-4D5D-88F5-12540F622B78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4/26</a:t>
            </a:r>
          </a:p>
        </p:txBody>
      </p:sp>
    </p:spTree>
    <p:extLst>
      <p:ext uri="{BB962C8B-B14F-4D97-AF65-F5344CB8AC3E}">
        <p14:creationId xmlns:p14="http://schemas.microsoft.com/office/powerpoint/2010/main" val="233372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86EBA-D130-E6F8-4ECB-A517B3DD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8674BE-9B5C-1289-26B7-21CBFFD2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48C4026-6D04-F6F7-92DB-C2E437C22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49ACCB-0498-3BB4-4600-1F88369F3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086AC0-54CD-6A7D-C425-D6228E2F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768D7F-6E2C-B05D-C41F-FB5BF1AA5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F750BC-62B7-AC7D-F3A7-308141C91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6DA439-99BA-9A76-FD44-3E65170B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210" y="4421184"/>
            <a:ext cx="8637073" cy="558063"/>
          </a:xfrm>
        </p:spPr>
        <p:txBody>
          <a:bodyPr vert="horz" lIns="91440" tIns="45720" rIns="91440" bIns="0" rtlCol="0" anchor="b">
            <a:normAutofit fontScale="90000"/>
          </a:bodyPr>
          <a:lstStyle/>
          <a:p>
            <a:pPr algn="ctr"/>
            <a:r>
              <a:rPr lang="en-US" sz="3600" dirty="0"/>
              <a:t>reduce counter of “-” with existing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7F1341-892A-1780-2C0E-B1A70C327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64906" y="323838"/>
            <a:ext cx="8661501" cy="3652791"/>
            <a:chOff x="7773058" y="600024"/>
            <a:chExt cx="3630912" cy="522248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5BA0152-07E2-09D7-845B-79A962FA9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3058" y="600024"/>
              <a:ext cx="3630912" cy="5222486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FE1703-7974-9566-36E6-A793CFC8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04482" y="1062693"/>
              <a:ext cx="3367301" cy="429234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CDE5B13-F51C-29D5-74DE-1341B5CD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44322" y="822145"/>
            <a:ext cx="7702878" cy="2662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64536-C15B-DDE8-CB9E-223EFF950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CAF926-F184-9CCD-5E11-86066276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5692" y="5495006"/>
            <a:ext cx="3500715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02FE938-1586-4780-B61A-DD3B60BAB93C}" type="datetime1">
              <a:rPr lang="fr-FR" smtClean="0"/>
              <a:pPr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14D7917-2FBC-6837-0E40-6024E9045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2B9EE2-4C9F-6B69-8F93-2E741D534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7BBCF70D-0BA1-365D-96A8-A9B9C255A438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4/26</a:t>
            </a:r>
          </a:p>
        </p:txBody>
      </p:sp>
      <p:pic>
        <p:nvPicPr>
          <p:cNvPr id="7" name="Image 6" descr="Une image contenant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B6EEA32-6782-9D1A-CCBE-90F50EC76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13" y="873264"/>
            <a:ext cx="3943225" cy="232830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AC1F14A-90DE-9A7B-D1AD-2A50630A8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509" y="873264"/>
            <a:ext cx="3943101" cy="2328306"/>
          </a:xfrm>
          <a:prstGeom prst="rect">
            <a:avLst/>
          </a:prstGeom>
        </p:spPr>
      </p:pic>
      <p:pic>
        <p:nvPicPr>
          <p:cNvPr id="9" name="Image 8" descr="Une image contenant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0E1B845-FF97-9A82-77A4-64399C47A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882" y="873264"/>
            <a:ext cx="3943225" cy="232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582F5-AB9A-198E-4273-FD7A08EE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14EC38-9B54-5676-1D0E-90D3D284F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115E79-42DB-7323-F6B3-2776C76E7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4C7CE9-2EED-40BF-6D0B-CACAC4889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6ADCA1E-5644-28F0-29CE-A950FA8D7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323B4E-9545-A1E8-9914-1C123CE3C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5DE47-F337-FB8D-0299-9C4BB16C4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D8CF2C-E24A-A447-8C6C-A1B2FD94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002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LIST OF POSSIBILITIES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600A0A-38D0-9C2B-43DA-5ADDD2D5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7463259" y="583365"/>
            <a:chExt cx="4074533" cy="518192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B7D407-A4C0-EE0B-069D-3CB066D13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762E8D-1CE9-7477-5F39-813E10124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E68D294-6DA5-D09B-3510-9E3CEBB6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6" y="1116345"/>
            <a:ext cx="1753521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9C9FB3-894F-6AE5-7916-EBE298A3A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5" y="3130663"/>
            <a:ext cx="2804652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6D595D5-FC22-11F6-3C66-D1EA17BFC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21" y="3146732"/>
            <a:ext cx="3240000" cy="185142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EB8303-9D11-F5FD-B863-57C8015B3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3459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Image 16" descr="Une image contenant horloge&#10;&#10;Description générée automatiquement">
            <a:extLst>
              <a:ext uri="{FF2B5EF4-FFF2-40B4-BE49-F238E27FC236}">
                <a16:creationId xmlns:a16="http://schemas.microsoft.com/office/drawing/2014/main" id="{594FE2A7-7C3A-A65E-01BA-0FFC1892D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747" y="1197481"/>
            <a:ext cx="933243" cy="168585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651F595-9603-0BAA-0F70-AE034BE8B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55" y="1116345"/>
            <a:ext cx="893992" cy="18507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1037AE-CB37-93A4-1BCB-43B1BB3A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5002" y="5465114"/>
            <a:ext cx="5541502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53813B4-013C-64E9-552B-D873F8117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08A7EAC-EEAA-EABF-4442-577015D98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D3B9FD9C-A58E-7438-B60E-34FC17023EEA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5/26</a:t>
            </a:r>
          </a:p>
        </p:txBody>
      </p:sp>
    </p:spTree>
    <p:extLst>
      <p:ext uri="{BB962C8B-B14F-4D97-AF65-F5344CB8AC3E}">
        <p14:creationId xmlns:p14="http://schemas.microsoft.com/office/powerpoint/2010/main" val="86291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20">
            <a:extLst>
              <a:ext uri="{FF2B5EF4-FFF2-40B4-BE49-F238E27FC236}">
                <a16:creationId xmlns:a16="http://schemas.microsoft.com/office/drawing/2014/main" id="{2BA1D835-8AEF-4A50-9C36-F44036A8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22">
            <a:extLst>
              <a:ext uri="{FF2B5EF4-FFF2-40B4-BE49-F238E27FC236}">
                <a16:creationId xmlns:a16="http://schemas.microsoft.com/office/drawing/2014/main" id="{9EDF73AE-2447-44D2-A625-35DFB87B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29BE82-9AA6-46F4-A1D0-8EC533A1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002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LIST OF POSSIBILITIES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A9E343-E53F-4F6E-9FA9-240D9038A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7463259" y="583365"/>
            <a:chExt cx="4074533" cy="5181928"/>
          </a:xfrm>
        </p:grpSpPr>
        <p:sp>
          <p:nvSpPr>
            <p:cNvPr id="66" name="Rectangle 25">
              <a:extLst>
                <a:ext uri="{FF2B5EF4-FFF2-40B4-BE49-F238E27FC236}">
                  <a16:creationId xmlns:a16="http://schemas.microsoft.com/office/drawing/2014/main" id="{E6D251D5-B5F7-44F0-94F8-B57FF58AE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26">
              <a:extLst>
                <a:ext uri="{FF2B5EF4-FFF2-40B4-BE49-F238E27FC236}">
                  <a16:creationId xmlns:a16="http://schemas.microsoft.com/office/drawing/2014/main" id="{D8019CAD-1C08-4495-BA4D-A724D067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Rectangle 28">
            <a:extLst>
              <a:ext uri="{FF2B5EF4-FFF2-40B4-BE49-F238E27FC236}">
                <a16:creationId xmlns:a16="http://schemas.microsoft.com/office/drawing/2014/main" id="{CD5934C1-F335-44A5-9FFD-F30F50C5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6" y="1116345"/>
            <a:ext cx="1753521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30">
            <a:extLst>
              <a:ext uri="{FF2B5EF4-FFF2-40B4-BE49-F238E27FC236}">
                <a16:creationId xmlns:a16="http://schemas.microsoft.com/office/drawing/2014/main" id="{3880DDAB-9144-4784-B4B1-47CD6BBD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5" y="3130663"/>
            <a:ext cx="2804652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clavier&#10;&#10;Description générée automatiquement">
            <a:extLst>
              <a:ext uri="{FF2B5EF4-FFF2-40B4-BE49-F238E27FC236}">
                <a16:creationId xmlns:a16="http://schemas.microsoft.com/office/drawing/2014/main" id="{7DA17316-2D36-44DA-BF73-1A97B2A6C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21" y="3146732"/>
            <a:ext cx="3240000" cy="185142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CD9AAF-0A3D-47F5-9996-BE4B58D16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3459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horloge&#10;&#10;Description générée automatiquement">
            <a:extLst>
              <a:ext uri="{FF2B5EF4-FFF2-40B4-BE49-F238E27FC236}">
                <a16:creationId xmlns:a16="http://schemas.microsoft.com/office/drawing/2014/main" id="{39ED06D9-DCF3-4CF3-97D5-E4AAB6E9C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747" y="1197481"/>
            <a:ext cx="933243" cy="1685859"/>
          </a:xfrm>
          <a:prstGeom prst="rect">
            <a:avLst/>
          </a:prstGeom>
        </p:spPr>
      </p:pic>
      <p:sp>
        <p:nvSpPr>
          <p:cNvPr id="70" name="Rectangle 34">
            <a:extLst>
              <a:ext uri="{FF2B5EF4-FFF2-40B4-BE49-F238E27FC236}">
                <a16:creationId xmlns:a16="http://schemas.microsoft.com/office/drawing/2014/main" id="{4DAAB089-AC72-4164-8E52-BA1048DF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55" y="1116345"/>
            <a:ext cx="893992" cy="18507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B4C1EF-645E-41F9-8A8C-71EACAC2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5002" y="5465114"/>
            <a:ext cx="5541502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0E4C9E3-2C41-442C-9ECE-1827D02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5A1B93-F7E4-418B-95B7-575D94DB3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93F4A943-A8FB-4270-A9BB-C1158B3EC57D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6/26</a:t>
            </a:r>
          </a:p>
        </p:txBody>
      </p:sp>
    </p:spTree>
    <p:extLst>
      <p:ext uri="{BB962C8B-B14F-4D97-AF65-F5344CB8AC3E}">
        <p14:creationId xmlns:p14="http://schemas.microsoft.com/office/powerpoint/2010/main" val="141889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A1D835-8AEF-4A50-9C36-F44036A8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DF73AE-2447-44D2-A625-35DFB87B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DF23EF-ACAA-44E1-BEAD-C1AF6173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002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LISTE DES POSSIBILITES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A9E343-E53F-4F6E-9FA9-240D9038A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7463259" y="583365"/>
            <a:chExt cx="4074533" cy="518192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D251D5-B5F7-44F0-94F8-B57FF58AE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019CAD-1C08-4495-BA4D-A724D067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D5934C1-F335-44A5-9FFD-F30F50C5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6" y="1116345"/>
            <a:ext cx="1753521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80DDAB-9144-4784-B4B1-47CD6BBD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5" y="3130663"/>
            <a:ext cx="2804652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090041-35D2-48E1-A267-78E0CD8E0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21" y="3146732"/>
            <a:ext cx="3240000" cy="185142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CD9AAF-0A3D-47F5-9996-BE4B58D16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3459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Espace réservé du contenu 5" descr="Une image contenant moniteur, horloge, écran, tenant&#10;&#10;Description générée automatiquement">
            <a:extLst>
              <a:ext uri="{FF2B5EF4-FFF2-40B4-BE49-F238E27FC236}">
                <a16:creationId xmlns:a16="http://schemas.microsoft.com/office/drawing/2014/main" id="{04316D60-7CD0-4558-82BA-1096F3DDA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747" y="1197481"/>
            <a:ext cx="933243" cy="168585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DAAB089-AC72-4164-8E52-BA1048DF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55" y="1116345"/>
            <a:ext cx="893992" cy="18507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0020F9-CA11-4797-A2FE-2FE0999A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5002" y="5465114"/>
            <a:ext cx="5541502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0E4C9E3-2C41-442C-9ECE-1827D02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5A1B93-F7E4-418B-95B7-575D94DB3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F21F647D-2A82-40F2-811C-CA5CA4279BFB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7/26</a:t>
            </a:r>
          </a:p>
        </p:txBody>
      </p:sp>
    </p:spTree>
    <p:extLst>
      <p:ext uri="{BB962C8B-B14F-4D97-AF65-F5344CB8AC3E}">
        <p14:creationId xmlns:p14="http://schemas.microsoft.com/office/powerpoint/2010/main" val="105292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A1D835-8AEF-4A50-9C36-F44036A8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DF73AE-2447-44D2-A625-35DFB87B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E6BD10-87CB-439E-AD7F-98E3D7B7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002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LIST OF POSSIBILITIES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A9E343-E53F-4F6E-9FA9-240D9038A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7463259" y="583365"/>
            <a:chExt cx="4074533" cy="518192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D251D5-B5F7-44F0-94F8-B57FF58AE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019CAD-1C08-4495-BA4D-A724D067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D5934C1-F335-44A5-9FFD-F30F50C5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6" y="1116345"/>
            <a:ext cx="1753521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80DDAB-9144-4784-B4B1-47CD6BBD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295" y="3130663"/>
            <a:ext cx="2804652" cy="185078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D285750-9649-4623-9F16-D0B2CCAF4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21" y="3146732"/>
            <a:ext cx="3240000" cy="185142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CD9AAF-0A3D-47F5-9996-BE4B58D16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3459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objet, route, moniteur, écran&#10;&#10;Description générée automatiquement">
            <a:extLst>
              <a:ext uri="{FF2B5EF4-FFF2-40B4-BE49-F238E27FC236}">
                <a16:creationId xmlns:a16="http://schemas.microsoft.com/office/drawing/2014/main" id="{D8894CF8-0DEF-41EB-A504-3A3389F82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747" y="1197481"/>
            <a:ext cx="933243" cy="168585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DAAB089-AC72-4164-8E52-BA1048DF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55" y="1116345"/>
            <a:ext cx="893992" cy="18507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E5F6D-1E48-4008-874C-19F14020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5002" y="5465114"/>
            <a:ext cx="5541502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0E4C9E3-2C41-442C-9ECE-1827D02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5A1B93-F7E4-418B-95B7-575D94DB3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9CA46D03-0FC5-4BE7-BC59-93F8310B392D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8/26</a:t>
            </a:r>
          </a:p>
        </p:txBody>
      </p:sp>
    </p:spTree>
    <p:extLst>
      <p:ext uri="{BB962C8B-B14F-4D97-AF65-F5344CB8AC3E}">
        <p14:creationId xmlns:p14="http://schemas.microsoft.com/office/powerpoint/2010/main" val="107406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5F30A4-1D92-4259-B737-5735CCC94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6" y="2353987"/>
            <a:ext cx="1462629" cy="264217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3107A6A-5DE1-421A-9DC9-725A1728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660" y="2122316"/>
            <a:ext cx="6540680" cy="373753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9BBF7B-C81D-476D-87A3-313631D31D33}"/>
              </a:ext>
            </a:extLst>
          </p:cNvPr>
          <p:cNvSpPr txBox="1"/>
          <p:nvPr/>
        </p:nvSpPr>
        <p:spPr>
          <a:xfrm>
            <a:off x="11523216" y="731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9/26</a:t>
            </a:r>
          </a:p>
        </p:txBody>
      </p:sp>
    </p:spTree>
    <p:extLst>
      <p:ext uri="{BB962C8B-B14F-4D97-AF65-F5344CB8AC3E}">
        <p14:creationId xmlns:p14="http://schemas.microsoft.com/office/powerpoint/2010/main" val="1709982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09D5346-39B3-4929-8915-53E92B1F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6" y="2344462"/>
            <a:ext cx="1462629" cy="26421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BF8329-51D7-4E60-B3F4-E1E7F01E9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660" y="2122316"/>
            <a:ext cx="6540680" cy="373753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6B6372-A82C-431E-8A6E-327DDCF3C374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10/26</a:t>
            </a:r>
          </a:p>
        </p:txBody>
      </p:sp>
    </p:spTree>
    <p:extLst>
      <p:ext uri="{BB962C8B-B14F-4D97-AF65-F5344CB8AC3E}">
        <p14:creationId xmlns:p14="http://schemas.microsoft.com/office/powerpoint/2010/main" val="298602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72AD044B-2208-42A2-BC94-3CDC847DB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4" y="2344462"/>
            <a:ext cx="1462629" cy="264216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C32BA89-D9D8-40AB-BF71-1A88CF977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660" y="2122315"/>
            <a:ext cx="6540680" cy="37375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F79E60-8372-49C3-95FE-D7B4020D9A14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11/26</a:t>
            </a:r>
          </a:p>
        </p:txBody>
      </p:sp>
    </p:spTree>
    <p:extLst>
      <p:ext uri="{BB962C8B-B14F-4D97-AF65-F5344CB8AC3E}">
        <p14:creationId xmlns:p14="http://schemas.microsoft.com/office/powerpoint/2010/main" val="389955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22D3EF4-6C21-4D5F-AFAD-94245360A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4" y="2344461"/>
            <a:ext cx="1462628" cy="264216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D7B266C-93BE-4CDF-9DBE-BADA9A21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660" y="2122314"/>
            <a:ext cx="6540680" cy="37375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173AF0-5F27-41A3-A756-6DD0E4BBC9CB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12/26</a:t>
            </a:r>
          </a:p>
        </p:txBody>
      </p:sp>
    </p:spTree>
    <p:extLst>
      <p:ext uri="{BB962C8B-B14F-4D97-AF65-F5344CB8AC3E}">
        <p14:creationId xmlns:p14="http://schemas.microsoft.com/office/powerpoint/2010/main" val="4206110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C28529A-5FD8-4DD0-B0B2-CCB9C159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660" y="2122313"/>
            <a:ext cx="6540680" cy="373753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C489121-94C5-492B-9FA3-FEF4F04CE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24" y="2344461"/>
            <a:ext cx="1462628" cy="264216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9211418-9518-40D8-BE44-0E54A188E2A3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13/26</a:t>
            </a:r>
          </a:p>
        </p:txBody>
      </p:sp>
    </p:spTree>
    <p:extLst>
      <p:ext uri="{BB962C8B-B14F-4D97-AF65-F5344CB8AC3E}">
        <p14:creationId xmlns:p14="http://schemas.microsoft.com/office/powerpoint/2010/main" val="101581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C28529A-5FD8-4DD0-B0B2-CCB9C159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660" y="2122313"/>
            <a:ext cx="6540680" cy="373753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C489121-94C5-492B-9FA3-FEF4F04CE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24" y="2344461"/>
            <a:ext cx="1462628" cy="264216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Graphique 9" descr="Coche">
            <a:extLst>
              <a:ext uri="{FF2B5EF4-FFF2-40B4-BE49-F238E27FC236}">
                <a16:creationId xmlns:a16="http://schemas.microsoft.com/office/drawing/2014/main" id="{94CD2A1A-55B0-429D-A9D0-B1E58B40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5244" y="2122313"/>
            <a:ext cx="3344643" cy="334464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8E49618-7F1B-45C6-9155-7199FAC218C0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14/26</a:t>
            </a:r>
          </a:p>
        </p:txBody>
      </p:sp>
    </p:spTree>
    <p:extLst>
      <p:ext uri="{BB962C8B-B14F-4D97-AF65-F5344CB8AC3E}">
        <p14:creationId xmlns:p14="http://schemas.microsoft.com/office/powerpoint/2010/main" val="1305143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BBF8107-6175-42D9-ADD9-CE38772F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21C6EA-BBE8-4E7E-B86E-CAE4245C4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BB386D-E5F0-4C19-A277-104CDA6F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406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100" dirty="0"/>
              <a:t>Comparison with expectations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7C5442D-91EA-4157-A0FD-2B96EBE4F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7560115" cy="5149101"/>
            <a:chOff x="7463258" y="583365"/>
            <a:chExt cx="7560115" cy="518192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3CDF368-2610-418F-96F7-A60B6CFC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D943544-4D30-40A5-8B74-B8C76E458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F1A46C47-E493-4059-8069-C9D95CAF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497" y="977099"/>
            <a:ext cx="6597725" cy="41362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F9FAD3-0503-48DE-8949-736A65C5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39" y="1116345"/>
            <a:ext cx="2271564" cy="3866172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71C69E1-1BF1-4985-8619-E4A076640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69720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EEBBB4BF-A415-4691-A1AA-BAF36B0D6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110" y="1893638"/>
            <a:ext cx="3518730" cy="2303126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8F9D6A-10C4-42C6-B15B-034B9DC6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71405" y="5465114"/>
            <a:ext cx="3026557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ACF493D-8E13-4887-8052-16549EF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87E0B82-3A3E-4B42-9B4C-61A1F0AF8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47849BAD-1D0E-40D2-A61B-19754EADD99C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15/26</a:t>
            </a:r>
          </a:p>
        </p:txBody>
      </p:sp>
    </p:spTree>
    <p:extLst>
      <p:ext uri="{BB962C8B-B14F-4D97-AF65-F5344CB8AC3E}">
        <p14:creationId xmlns:p14="http://schemas.microsoft.com/office/powerpoint/2010/main" val="3618202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BBF8107-6175-42D9-ADD9-CE38772F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21C6EA-BBE8-4E7E-B86E-CAE4245C4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BB386D-E5F0-4C19-A277-104CDA6F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406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100" dirty="0"/>
              <a:t>Comparison with expectations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7C5442D-91EA-4157-A0FD-2B96EBE4F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7560115" cy="5149101"/>
            <a:chOff x="7463258" y="583365"/>
            <a:chExt cx="7560115" cy="5181928"/>
          </a:xfrm>
        </p:grpSpPr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33CDF368-2610-418F-96F7-A60B6CFC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26">
              <a:extLst>
                <a:ext uri="{FF2B5EF4-FFF2-40B4-BE49-F238E27FC236}">
                  <a16:creationId xmlns:a16="http://schemas.microsoft.com/office/drawing/2014/main" id="{5D943544-4D30-40A5-8B74-B8C76E458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1A46C47-E493-4059-8069-C9D95CAF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497" y="977099"/>
            <a:ext cx="6597725" cy="41362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F9FAD3-0503-48DE-8949-736A65C5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39" y="1116345"/>
            <a:ext cx="2271564" cy="386617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1C69E1-1BF1-4985-8619-E4A076640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69720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8F9D6A-10C4-42C6-B15B-034B9DC6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71405" y="5465114"/>
            <a:ext cx="3026557" cy="309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02FE938-1586-4780-B61A-DD3B60BAB93C}" type="datetime1">
              <a:rPr lang="fr-FR" smtClean="0"/>
              <a:pPr algn="l">
                <a:spcAft>
                  <a:spcPts val="600"/>
                </a:spcAft>
              </a:pPr>
              <a:t>08/01/2026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ACF493D-8E13-4887-8052-16549EF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7E0B82-3A3E-4B42-9B4C-61A1F0AF8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42616AD8-7D9B-434F-9D29-466222E66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110" y="1893638"/>
            <a:ext cx="3518730" cy="2303126"/>
          </a:xfrm>
          <a:prstGeom prst="rect">
            <a:avLst/>
          </a:prstGeom>
        </p:spPr>
      </p:pic>
      <p:pic>
        <p:nvPicPr>
          <p:cNvPr id="22" name="Graphique 21" descr="Coche">
            <a:extLst>
              <a:ext uri="{FF2B5EF4-FFF2-40B4-BE49-F238E27FC236}">
                <a16:creationId xmlns:a16="http://schemas.microsoft.com/office/drawing/2014/main" id="{FE32E858-4BE1-443D-884A-E2B85B70AD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6762" y="1117165"/>
            <a:ext cx="3344643" cy="334464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9C5508-058A-4200-BB95-A04B501FB5DA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16/26</a:t>
            </a:r>
          </a:p>
        </p:txBody>
      </p:sp>
    </p:spTree>
    <p:extLst>
      <p:ext uri="{BB962C8B-B14F-4D97-AF65-F5344CB8AC3E}">
        <p14:creationId xmlns:p14="http://schemas.microsoft.com/office/powerpoint/2010/main" val="2521078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ague 10">
            <a:extLst>
              <a:ext uri="{FF2B5EF4-FFF2-40B4-BE49-F238E27FC236}">
                <a16:creationId xmlns:a16="http://schemas.microsoft.com/office/drawing/2014/main" id="{57A4752D-4FBB-422C-B37A-072502232B1A}"/>
              </a:ext>
            </a:extLst>
          </p:cNvPr>
          <p:cNvSpPr/>
          <p:nvPr/>
        </p:nvSpPr>
        <p:spPr>
          <a:xfrm rot="5400000">
            <a:off x="783492" y="3511501"/>
            <a:ext cx="2228298" cy="1069680"/>
          </a:xfrm>
          <a:prstGeom prst="wave">
            <a:avLst>
              <a:gd name="adj1" fmla="val 5704"/>
              <a:gd name="adj2" fmla="val 0"/>
            </a:avLst>
          </a:prstGeom>
          <a:solidFill>
            <a:srgbClr val="FDFA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B3DF5-8EC6-4E87-A4AC-14AD6140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484970"/>
            <a:ext cx="9603275" cy="1049235"/>
          </a:xfrm>
        </p:spPr>
        <p:txBody>
          <a:bodyPr/>
          <a:lstStyle/>
          <a:p>
            <a:pPr algn="ctr"/>
            <a:r>
              <a:rPr lang="fr-FR" sz="5400" dirty="0"/>
              <a:t>EXAMPLE #2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E71A87-5731-447A-9B56-7F96F235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930171" cy="4061218"/>
          </a:xfrm>
        </p:spPr>
        <p:txBody>
          <a:bodyPr>
            <a:noAutofit/>
          </a:bodyPr>
          <a:lstStyle/>
          <a:p>
            <a:r>
              <a:rPr lang="en-US" sz="1800" dirty="0"/>
              <a:t>Execution of the algorithm with the input: </a:t>
            </a:r>
          </a:p>
          <a:p>
            <a:pPr marL="0" indent="0">
              <a:buNone/>
            </a:pPr>
            <a:r>
              <a:rPr lang="fr-FR" sz="1800" dirty="0"/>
              <a:t>4 2 </a:t>
            </a:r>
          </a:p>
          <a:p>
            <a:pPr marL="0" indent="0">
              <a:buNone/>
            </a:pPr>
            <a:r>
              <a:rPr lang="fr-FR" sz="2400" dirty="0"/>
              <a:t>   ** </a:t>
            </a:r>
          </a:p>
          <a:p>
            <a:pPr marL="0" indent="0">
              <a:buNone/>
            </a:pPr>
            <a:r>
              <a:rPr lang="fr-FR" sz="2400" dirty="0"/>
              <a:t>   ** </a:t>
            </a:r>
          </a:p>
          <a:p>
            <a:pPr marL="0" indent="0">
              <a:buNone/>
            </a:pPr>
            <a:r>
              <a:rPr lang="fr-FR" sz="2400" dirty="0"/>
              <a:t>   ** </a:t>
            </a:r>
          </a:p>
          <a:p>
            <a:pPr marL="0" indent="0">
              <a:buNone/>
            </a:pPr>
            <a:r>
              <a:rPr lang="fr-FR" sz="2400" dirty="0"/>
              <a:t>   ** </a:t>
            </a:r>
          </a:p>
          <a:p>
            <a:pPr marL="0" indent="0">
              <a:buNone/>
            </a:pPr>
            <a:r>
              <a:rPr lang="fr-FR" sz="1800" dirty="0"/>
              <a:t>1 0 0 1 </a:t>
            </a:r>
          </a:p>
          <a:p>
            <a:pPr marL="0" indent="0">
              <a:buNone/>
            </a:pPr>
            <a:r>
              <a:rPr lang="fr-FR" sz="1800" dirty="0"/>
              <a:t>1 1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8C0566-96DE-4CD6-9087-6A2BF824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D19E8C8-F7D0-4E71-BE88-72FED804BFAE}"/>
              </a:ext>
            </a:extLst>
          </p:cNvPr>
          <p:cNvSpPr txBox="1">
            <a:spLocks/>
          </p:cNvSpPr>
          <p:nvPr/>
        </p:nvSpPr>
        <p:spPr>
          <a:xfrm>
            <a:off x="6753332" y="2015732"/>
            <a:ext cx="4930171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err="1"/>
              <a:t>Which</a:t>
            </a:r>
            <a:r>
              <a:rPr lang="fr-FR" sz="1800" dirty="0"/>
              <a:t> </a:t>
            </a:r>
            <a:r>
              <a:rPr lang="fr-FR" sz="1800" dirty="0" err="1"/>
              <a:t>should</a:t>
            </a:r>
            <a:r>
              <a:rPr lang="fr-FR" sz="1800" dirty="0"/>
              <a:t> </a:t>
            </a:r>
            <a:r>
              <a:rPr lang="fr-FR" sz="1800" dirty="0" err="1"/>
              <a:t>result</a:t>
            </a:r>
            <a:r>
              <a:rPr lang="fr-FR" sz="1800" dirty="0"/>
              <a:t> in: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519C1D-5FAD-4BA1-B639-B4D8C8D59781}"/>
              </a:ext>
            </a:extLst>
          </p:cNvPr>
          <p:cNvSpPr txBox="1"/>
          <p:nvPr/>
        </p:nvSpPr>
        <p:spPr>
          <a:xfrm>
            <a:off x="7173158" y="2709206"/>
            <a:ext cx="28353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6C753E-BFBD-41C1-B0C9-8893C39618EB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17/26</a:t>
            </a:r>
          </a:p>
        </p:txBody>
      </p:sp>
    </p:spTree>
    <p:extLst>
      <p:ext uri="{BB962C8B-B14F-4D97-AF65-F5344CB8AC3E}">
        <p14:creationId xmlns:p14="http://schemas.microsoft.com/office/powerpoint/2010/main" val="2068649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CC8F842-88BF-447A-9242-39F091020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401612"/>
            <a:ext cx="1698538" cy="26421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D59B5A-FA17-4928-A395-011A3EEC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59" y="2020055"/>
            <a:ext cx="3904636" cy="39046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89F796C-AC18-4ACF-8918-78E6AC0DACCE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18/26</a:t>
            </a:r>
          </a:p>
        </p:txBody>
      </p:sp>
    </p:spTree>
    <p:extLst>
      <p:ext uri="{BB962C8B-B14F-4D97-AF65-F5344CB8AC3E}">
        <p14:creationId xmlns:p14="http://schemas.microsoft.com/office/powerpoint/2010/main" val="2798183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C744578-DD44-4BBF-8326-F2ED8374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401612"/>
            <a:ext cx="1698538" cy="26421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D59B5A-FA17-4928-A395-011A3EEC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59" y="2020055"/>
            <a:ext cx="3904636" cy="39046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89ECBBD-B873-47ED-89B0-323E3B860D43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19/26</a:t>
            </a:r>
          </a:p>
        </p:txBody>
      </p:sp>
    </p:spTree>
    <p:extLst>
      <p:ext uri="{BB962C8B-B14F-4D97-AF65-F5344CB8AC3E}">
        <p14:creationId xmlns:p14="http://schemas.microsoft.com/office/powerpoint/2010/main" val="114850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165B7E0-3213-462E-BFA6-58C0C63C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401612"/>
            <a:ext cx="1698538" cy="26421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D59B5A-FA17-4928-A395-011A3EEC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59" y="2020055"/>
            <a:ext cx="3904636" cy="39046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4429973-B429-4CE4-A5F9-F4B2868B2BEE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20/26</a:t>
            </a:r>
          </a:p>
        </p:txBody>
      </p:sp>
    </p:spTree>
    <p:extLst>
      <p:ext uri="{BB962C8B-B14F-4D97-AF65-F5344CB8AC3E}">
        <p14:creationId xmlns:p14="http://schemas.microsoft.com/office/powerpoint/2010/main" val="2021952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1B68D22-8CEE-4CF9-AFE6-DC129940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401612"/>
            <a:ext cx="1698538" cy="26421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D59B5A-FA17-4928-A395-011A3EEC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59" y="2020055"/>
            <a:ext cx="3904636" cy="39046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C2F79D0-2158-4718-A11F-05DA71C7996E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21/26</a:t>
            </a:r>
          </a:p>
        </p:txBody>
      </p:sp>
    </p:spTree>
    <p:extLst>
      <p:ext uri="{BB962C8B-B14F-4D97-AF65-F5344CB8AC3E}">
        <p14:creationId xmlns:p14="http://schemas.microsoft.com/office/powerpoint/2010/main" val="3861187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1B68D22-8CEE-4CF9-AFE6-DC129940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401612"/>
            <a:ext cx="1698538" cy="26421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828A403-6528-4DCF-AF3C-ED7DACF9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7" y="204444"/>
            <a:ext cx="9603275" cy="1049235"/>
          </a:xfrm>
        </p:spPr>
        <p:txBody>
          <a:bodyPr/>
          <a:lstStyle/>
          <a:p>
            <a:r>
              <a:rPr lang="fr-FR" dirty="0"/>
              <a:t>PATH OF POSSIBILITIES: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5FEA36-3891-456D-AF15-9C0E522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78BB34-4B22-4F6C-A5D7-9F5EDC3F12A3}"/>
              </a:ext>
            </a:extLst>
          </p:cNvPr>
          <p:cNvSpPr txBox="1"/>
          <p:nvPr/>
        </p:nvSpPr>
        <p:spPr>
          <a:xfrm>
            <a:off x="585926" y="771384"/>
            <a:ext cx="1046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there are as many possibilities as missing “-” in a row or column: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a possibility is no longer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If no simplification is possible: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fr-F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D59B5A-FA17-4928-A395-011A3EEC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59" y="2020055"/>
            <a:ext cx="3904636" cy="3904636"/>
          </a:xfrm>
          <a:prstGeom prst="rect">
            <a:avLst/>
          </a:prstGeom>
        </p:spPr>
      </p:pic>
      <p:pic>
        <p:nvPicPr>
          <p:cNvPr id="5" name="Graphique 4" descr="Fermer">
            <a:extLst>
              <a:ext uri="{FF2B5EF4-FFF2-40B4-BE49-F238E27FC236}">
                <a16:creationId xmlns:a16="http://schemas.microsoft.com/office/drawing/2014/main" id="{D8BD312D-EAC5-4D8E-AB04-FEDB63EDF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0725" y="2353987"/>
            <a:ext cx="2991128" cy="29911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1050E7E-DFA6-413E-8342-B675495EBDBE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22/26</a:t>
            </a:r>
          </a:p>
        </p:txBody>
      </p:sp>
    </p:spTree>
    <p:extLst>
      <p:ext uri="{BB962C8B-B14F-4D97-AF65-F5344CB8AC3E}">
        <p14:creationId xmlns:p14="http://schemas.microsoft.com/office/powerpoint/2010/main" val="4293938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54278-3CCA-4586-A4EC-FFFF9B16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THE BASIC ALGORITHM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F0361-7F0C-491B-8F40-7DF4889F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E8BF50-57E0-4634-B3E6-0A3BCD71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38" y="2436195"/>
            <a:ext cx="9586791" cy="358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B7FA95C-3277-4C89-8CDA-D77E04CD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738" y="4190527"/>
            <a:ext cx="9579170" cy="3276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649C078-889E-46AE-9337-C5899A90A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738" y="4653697"/>
            <a:ext cx="9083827" cy="3505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227CBC1-CDE6-4ED1-847E-731D172EE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738" y="2899365"/>
            <a:ext cx="8649450" cy="35817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97B46FC-FC7D-4BD3-AD30-67E73DC0629A}"/>
              </a:ext>
            </a:extLst>
          </p:cNvPr>
          <p:cNvSpPr txBox="1"/>
          <p:nvPr/>
        </p:nvSpPr>
        <p:spPr>
          <a:xfrm>
            <a:off x="1472934" y="3685713"/>
            <a:ext cx="608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 </a:t>
            </a:r>
            <a:r>
              <a:rPr lang="fr-FR" dirty="0" err="1"/>
              <a:t>algorithm</a:t>
            </a:r>
            <a:r>
              <a:rPr lang="fr-FR" dirty="0"/>
              <a:t>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B3DC00-4DFC-4B25-A339-2EC34FA8EB83}"/>
              </a:ext>
            </a:extLst>
          </p:cNvPr>
          <p:cNvSpPr txBox="1"/>
          <p:nvPr/>
        </p:nvSpPr>
        <p:spPr>
          <a:xfrm>
            <a:off x="1472934" y="2094021"/>
            <a:ext cx="608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My </a:t>
            </a:r>
            <a:r>
              <a:rPr lang="fr-FR" dirty="0" err="1"/>
              <a:t>algorithm</a:t>
            </a:r>
            <a:r>
              <a:rPr lang="fr-FR" dirty="0"/>
              <a:t>: 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B3A9530-B295-4B6C-972A-AE19BD367AE9}"/>
              </a:ext>
            </a:extLst>
          </p:cNvPr>
          <p:cNvSpPr/>
          <p:nvPr/>
        </p:nvSpPr>
        <p:spPr>
          <a:xfrm>
            <a:off x="7375105" y="2430614"/>
            <a:ext cx="514905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C69E562-8FBF-4BB6-A1BA-465BF1AD2AA0}"/>
              </a:ext>
            </a:extLst>
          </p:cNvPr>
          <p:cNvSpPr/>
          <p:nvPr/>
        </p:nvSpPr>
        <p:spPr>
          <a:xfrm>
            <a:off x="6860200" y="2893784"/>
            <a:ext cx="514905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09B8807-0ED2-4712-A8EF-FD7F605EF8D8}"/>
              </a:ext>
            </a:extLst>
          </p:cNvPr>
          <p:cNvSpPr/>
          <p:nvPr/>
        </p:nvSpPr>
        <p:spPr>
          <a:xfrm>
            <a:off x="7375104" y="4169705"/>
            <a:ext cx="514905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DD0019D-A98F-40F6-A492-AA29A6CC70F7}"/>
              </a:ext>
            </a:extLst>
          </p:cNvPr>
          <p:cNvSpPr/>
          <p:nvPr/>
        </p:nvSpPr>
        <p:spPr>
          <a:xfrm>
            <a:off x="6923824" y="4619684"/>
            <a:ext cx="514905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5875E9F-CC4A-4567-A1C2-AF9AE2E6F745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23/26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CCD920-8C61-D6D6-754C-9F2196C08CE4}"/>
              </a:ext>
            </a:extLst>
          </p:cNvPr>
          <p:cNvSpPr txBox="1"/>
          <p:nvPr/>
        </p:nvSpPr>
        <p:spPr>
          <a:xfrm>
            <a:off x="1412487" y="5345274"/>
            <a:ext cx="8977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=&gt; No </a:t>
            </a:r>
            <a:r>
              <a:rPr lang="fr-FR" sz="2400" b="1" dirty="0"/>
              <a:t>real</a:t>
            </a:r>
            <a:r>
              <a:rPr lang="fr-FR" sz="2400" dirty="0"/>
              <a:t> </a:t>
            </a:r>
            <a:r>
              <a:rPr lang="fr-FR" sz="2400" dirty="0" err="1"/>
              <a:t>difference</a:t>
            </a:r>
            <a:r>
              <a:rPr lang="fr-FR" sz="2400" dirty="0"/>
              <a:t> in </a:t>
            </a:r>
            <a:r>
              <a:rPr lang="fr-FR" sz="2400" dirty="0" err="1"/>
              <a:t>execution</a:t>
            </a:r>
            <a:r>
              <a:rPr lang="fr-FR" sz="2400" dirty="0"/>
              <a:t> time </a:t>
            </a:r>
            <a:r>
              <a:rPr lang="fr-FR" sz="2400" dirty="0" err="1"/>
              <a:t>between</a:t>
            </a:r>
            <a:r>
              <a:rPr lang="fr-FR" sz="2400" dirty="0"/>
              <a:t> the </a:t>
            </a:r>
            <a:r>
              <a:rPr lang="fr-FR" sz="2400" dirty="0" err="1"/>
              <a:t>two</a:t>
            </a:r>
            <a:r>
              <a:rPr lang="fr-FR" sz="2400" dirty="0"/>
              <a:t> </a:t>
            </a:r>
            <a:r>
              <a:rPr lang="fr-FR" sz="2400" dirty="0" err="1"/>
              <a:t>algorithms</a:t>
            </a:r>
            <a:endParaRPr lang="fr-FR" sz="2400" dirty="0"/>
          </a:p>
        </p:txBody>
      </p:sp>
      <p:pic>
        <p:nvPicPr>
          <p:cNvPr id="12" name="Graphique 11" descr="Chronomètre">
            <a:extLst>
              <a:ext uri="{FF2B5EF4-FFF2-40B4-BE49-F238E27FC236}">
                <a16:creationId xmlns:a16="http://schemas.microsoft.com/office/drawing/2014/main" id="{01713A52-B7F4-BC23-2803-6CB58C696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18508" y="51189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42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54278-3CCA-4586-A4EC-FFFF9B16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THE BASIC ALGORITHM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F0361-7F0C-491B-8F40-7DF4889F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7D5E98-44C0-42DB-B391-88216CDAEFB2}"/>
              </a:ext>
            </a:extLst>
          </p:cNvPr>
          <p:cNvSpPr txBox="1"/>
          <p:nvPr/>
        </p:nvSpPr>
        <p:spPr>
          <a:xfrm>
            <a:off x="1121371" y="2123412"/>
            <a:ext cx="7995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My algorithm is easier to understand (recursion is always complex).</a:t>
            </a:r>
            <a:endParaRPr lang="fr-FR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03C9C3C-B4E6-484F-A383-3739D1032B4F}"/>
              </a:ext>
            </a:extLst>
          </p:cNvPr>
          <p:cNvSpPr txBox="1"/>
          <p:nvPr/>
        </p:nvSpPr>
        <p:spPr>
          <a:xfrm>
            <a:off x="1121371" y="4232591"/>
            <a:ext cx="67442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And is more effective in cases with numerous possibilities. </a:t>
            </a:r>
            <a:endParaRPr lang="fr-FR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Graphique 11" descr="Tête avec engrenages">
            <a:extLst>
              <a:ext uri="{FF2B5EF4-FFF2-40B4-BE49-F238E27FC236}">
                <a16:creationId xmlns:a16="http://schemas.microsoft.com/office/drawing/2014/main" id="{0EA32B0A-C30F-4FB8-A590-47C5A011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4138" y="3786791"/>
            <a:ext cx="1845705" cy="1845705"/>
          </a:xfrm>
          <a:prstGeom prst="rect">
            <a:avLst/>
          </a:prstGeom>
        </p:spPr>
      </p:pic>
      <p:pic>
        <p:nvPicPr>
          <p:cNvPr id="20" name="Graphique 19" descr="Loupe">
            <a:extLst>
              <a:ext uri="{FF2B5EF4-FFF2-40B4-BE49-F238E27FC236}">
                <a16:creationId xmlns:a16="http://schemas.microsoft.com/office/drawing/2014/main" id="{991CA659-BA0C-49EC-86D5-FF24A96BD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1602" y="2123412"/>
            <a:ext cx="1288298" cy="12882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1A4DA94-88EA-4FFE-9680-A93BACC38F77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25/26</a:t>
            </a:r>
          </a:p>
        </p:txBody>
      </p:sp>
    </p:spTree>
    <p:extLst>
      <p:ext uri="{BB962C8B-B14F-4D97-AF65-F5344CB8AC3E}">
        <p14:creationId xmlns:p14="http://schemas.microsoft.com/office/powerpoint/2010/main" val="3983710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959982-D9DC-44C0-BFDA-B4A38DAA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756" y="1128357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THANK YOU FOR YOUR ATTENTION</a:t>
            </a:r>
            <a:endParaRPr lang="fr-FR" sz="40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553342-2377-46C8-BE5C-F890B19F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FE938-1586-4780-B61A-DD3B60BAB93C}" type="datetime1">
              <a:rPr lang="fr-FR" smtClean="0"/>
              <a:t>08/01/2026</a:t>
            </a:fld>
            <a:endParaRPr lang="en-US"/>
          </a:p>
        </p:txBody>
      </p:sp>
      <p:pic>
        <p:nvPicPr>
          <p:cNvPr id="6" name="Graphique 5" descr="Signe du pouce levé ">
            <a:extLst>
              <a:ext uri="{FF2B5EF4-FFF2-40B4-BE49-F238E27FC236}">
                <a16:creationId xmlns:a16="http://schemas.microsoft.com/office/drawing/2014/main" id="{A71F5D13-3D15-4E20-8829-6129C554F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7443" y="1850068"/>
            <a:ext cx="4274507" cy="42745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AC3809E-5558-4E9D-8EC4-79E1F11B82B3}"/>
              </a:ext>
            </a:extLst>
          </p:cNvPr>
          <p:cNvSpPr txBox="1"/>
          <p:nvPr/>
        </p:nvSpPr>
        <p:spPr>
          <a:xfrm>
            <a:off x="11523216" y="731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26/26</a:t>
            </a:r>
          </a:p>
        </p:txBody>
      </p:sp>
    </p:spTree>
    <p:extLst>
      <p:ext uri="{BB962C8B-B14F-4D97-AF65-F5344CB8AC3E}">
        <p14:creationId xmlns:p14="http://schemas.microsoft.com/office/powerpoint/2010/main" val="104757180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Office PowerPoint</Application>
  <PresentationFormat>Grand écran</PresentationFormat>
  <Paragraphs>145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Frank Ruhl Hofshi</vt:lpstr>
      <vt:lpstr>Gill Sans MT</vt:lpstr>
      <vt:lpstr>Galerie</vt:lpstr>
      <vt:lpstr>Damaged Ticket</vt:lpstr>
      <vt:lpstr>Présentation PowerPoint</vt:lpstr>
      <vt:lpstr>EXAMPLE #1 </vt:lpstr>
      <vt:lpstr>TREATMENT OF TRIVIAL CASES</vt:lpstr>
      <vt:lpstr>reduce counter of “-” with existing</vt:lpstr>
      <vt:lpstr>LIST OF POSSIBILITIES</vt:lpstr>
      <vt:lpstr>LIST OF POSSIBILITIES</vt:lpstr>
      <vt:lpstr>LISTE DES POSSIBILITES</vt:lpstr>
      <vt:lpstr>LIST OF POSSIBILITIES</vt:lpstr>
      <vt:lpstr>PATH OF POSSIBILITIES:</vt:lpstr>
      <vt:lpstr>PATH OF POSSIBILITIES:</vt:lpstr>
      <vt:lpstr>PATH OF POSSIBILITIES:</vt:lpstr>
      <vt:lpstr>PATH OF POSSIBILITIES:</vt:lpstr>
      <vt:lpstr>PATH OF POSSIBILITIES:</vt:lpstr>
      <vt:lpstr>PATH OF POSSIBILITIES:</vt:lpstr>
      <vt:lpstr>Comparison with expectations </vt:lpstr>
      <vt:lpstr>Comparison with expectations </vt:lpstr>
      <vt:lpstr>EXAMPLE #2 </vt:lpstr>
      <vt:lpstr>PATH OF POSSIBILITIES:</vt:lpstr>
      <vt:lpstr>PATH OF POSSIBILITIES:</vt:lpstr>
      <vt:lpstr>PATH OF POSSIBILITIES:</vt:lpstr>
      <vt:lpstr>PATH OF POSSIBILITIES:</vt:lpstr>
      <vt:lpstr>PATH OF POSSIBILITIES:</vt:lpstr>
      <vt:lpstr>COMPARISON WITH THE BASIC ALGORITHM</vt:lpstr>
      <vt:lpstr>COMPARISON WITH THE BASIC ALGORITHM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 </dc:creator>
  <cp:lastModifiedBy>Yann Martin D'Escrienne</cp:lastModifiedBy>
  <cp:revision>26</cp:revision>
  <dcterms:created xsi:type="dcterms:W3CDTF">2020-10-27T20:26:17Z</dcterms:created>
  <dcterms:modified xsi:type="dcterms:W3CDTF">2026-01-08T15:10:59Z</dcterms:modified>
</cp:coreProperties>
</file>